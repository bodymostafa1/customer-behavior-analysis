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835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6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6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3929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200" dirty="0">
                <a:solidFill>
                  <a:srgbClr val="E0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PROJECT · PYTHON · SQL · POWER BI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93010"/>
            <a:ext cx="10883392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Customer Behavior Analysis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544570"/>
            <a:ext cx="850265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3,900 retail purchases tell us about trends, engagement and marketing?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46659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Abdelrahman Mostafa · Cairo University ·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One question, three stages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0"/>
            <a:ext cx="10883392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a retailer use shopping data to identify trends, improve engagement and optimize marketing and product strategy?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2800" y="2542540"/>
            <a:ext cx="3386614" cy="1719580"/>
          </a:xfrm>
          <a:prstGeom prst="roundRect">
            <a:avLst>
              <a:gd name="adj" fmla="val 5908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66800" y="2796540"/>
            <a:ext cx="296497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Python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66800" y="3512820"/>
            <a:ext cx="296497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and explored the data with pandas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2614" y="2542540"/>
            <a:ext cx="3386693" cy="1719580"/>
          </a:xfrm>
          <a:prstGeom prst="roundRect">
            <a:avLst>
              <a:gd name="adj" fmla="val 5908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56614" y="2796540"/>
            <a:ext cx="296505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SQL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56614" y="3512820"/>
            <a:ext cx="296505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business questions answered in MySQL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2507" y="2542540"/>
            <a:ext cx="3386693" cy="1719580"/>
          </a:xfrm>
          <a:prstGeom prst="roundRect">
            <a:avLst>
              <a:gd name="adj" fmla="val 5908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46507" y="2796540"/>
            <a:ext cx="296505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Power BI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46507" y="3512820"/>
            <a:ext cx="296505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Four-page dashboard: Cover, Trends, Customers, Marketing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3,900 purchases, one per customer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0"/>
            <a:ext cx="2489200" cy="1719580"/>
          </a:xfrm>
          <a:prstGeom prst="roundRect">
            <a:avLst>
              <a:gd name="adj" fmla="val 5908"/>
            </a:avLst>
          </a:prstGeom>
          <a:solidFill>
            <a:srgbClr val="2A36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6800" y="1874520"/>
            <a:ext cx="204063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3,900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66800" y="2590800"/>
            <a:ext cx="204063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retail purchases across all 50 states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05200" y="1620520"/>
            <a:ext cx="2489200" cy="1719580"/>
          </a:xfrm>
          <a:prstGeom prst="roundRect">
            <a:avLst>
              <a:gd name="adj" fmla="val 5908"/>
            </a:avLst>
          </a:prstGeom>
          <a:solidFill>
            <a:srgbClr val="2A36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59200" y="1874520"/>
            <a:ext cx="204063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$233,081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759200" y="2590800"/>
            <a:ext cx="204063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7600" y="1620520"/>
            <a:ext cx="2489200" cy="1719580"/>
          </a:xfrm>
          <a:prstGeom prst="roundRect">
            <a:avLst>
              <a:gd name="adj" fmla="val 5908"/>
            </a:avLst>
          </a:prstGeom>
          <a:solidFill>
            <a:srgbClr val="2A36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51600" y="1874520"/>
            <a:ext cx="204063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$59.76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51600" y="2590800"/>
            <a:ext cx="204063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purchase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90000" y="1620520"/>
            <a:ext cx="2489200" cy="1719580"/>
          </a:xfrm>
          <a:prstGeom prst="roundRect">
            <a:avLst>
              <a:gd name="adj" fmla="val 5908"/>
            </a:avLst>
          </a:prstGeom>
          <a:solidFill>
            <a:srgbClr val="2A36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0" y="1874520"/>
            <a:ext cx="204063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3.75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144000" y="2590800"/>
            <a:ext cx="22352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rating out of 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364490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Cleaning: snake_case columns, 37 missing ratings filled with category medians, age groups and purchase-frequency days derived, redundant promo field dropped. The data has no dates, so seasonality uses the season label.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Ten SQL questions, four standout answers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0"/>
            <a:ext cx="2489200" cy="2462530"/>
          </a:xfrm>
          <a:prstGeom prst="roundRect">
            <a:avLst>
              <a:gd name="adj" fmla="val 41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6800" y="1874520"/>
            <a:ext cx="204063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B4521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67.7%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66800" y="2590800"/>
            <a:ext cx="204063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revenue is from male customers; per purchase, women spend slightly more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05200" y="1620520"/>
            <a:ext cx="2489200" cy="2462530"/>
          </a:xfrm>
          <a:prstGeom prst="roundRect">
            <a:avLst>
              <a:gd name="adj" fmla="val 41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59200" y="1874520"/>
            <a:ext cx="204063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B4521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50.0%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759200" y="2590800"/>
            <a:ext cx="204063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discounted purchases still land above average (839 of 1,677)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7600" y="1620520"/>
            <a:ext cx="2489200" cy="2462530"/>
          </a:xfrm>
          <a:prstGeom prst="roundRect">
            <a:avLst>
              <a:gd name="adj" fmla="val 41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51600" y="1874520"/>
            <a:ext cx="204063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B4521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26.9%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51600" y="2590800"/>
            <a:ext cx="204063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revenue is from subscribers, matching their 27.0% share of customers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90000" y="1620520"/>
            <a:ext cx="2489200" cy="2462530"/>
          </a:xfrm>
          <a:prstGeom prst="roundRect">
            <a:avLst>
              <a:gd name="adj" fmla="val 41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0" y="1874520"/>
            <a:ext cx="204063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B4521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79.9%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144000" y="2590800"/>
            <a:ext cx="2040636" cy="126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customers are Loyal (11+ previous purchases), so that segment needs a finer split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438785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used: aggregation, subqueries, conditional aggregation, CTEs and window functions.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Product mix is the clearest signal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3386614" cy="1967230"/>
          </a:xfrm>
          <a:prstGeom prst="roundRect">
            <a:avLst>
              <a:gd name="adj" fmla="val 51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6800" y="1874521"/>
            <a:ext cx="296497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B4521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44.7%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66800" y="2590800"/>
            <a:ext cx="296497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revenue comes from Clothing, which leads in every season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2614" y="1620521"/>
            <a:ext cx="3386693" cy="1967230"/>
          </a:xfrm>
          <a:prstGeom prst="roundRect">
            <a:avLst>
              <a:gd name="adj" fmla="val 51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56614" y="1874521"/>
            <a:ext cx="296505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B4521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76.5%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656614" y="2590800"/>
            <a:ext cx="296505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revenue comes from Clothing and Accessories together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2507" y="1620521"/>
            <a:ext cx="3386693" cy="1967230"/>
          </a:xfrm>
          <a:prstGeom prst="roundRect">
            <a:avLst>
              <a:gd name="adj" fmla="val 51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46507" y="1874521"/>
            <a:ext cx="296505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B4521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~7%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246507" y="2590800"/>
            <a:ext cx="2965054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between Fall ($60,018) and Summer ($55,777), the strongest and weakest seasons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89255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 leads on spend per purchase ($61.56), not on volume. The top five products sit within about 4% of each other.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Seasonal rhythm by category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3386614" cy="1967230"/>
          </a:xfrm>
          <a:prstGeom prst="roundRect">
            <a:avLst>
              <a:gd name="adj" fmla="val 5165"/>
            </a:avLst>
          </a:prstGeom>
          <a:solidFill>
            <a:srgbClr val="2A36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6800" y="1874521"/>
            <a:ext cx="296497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$27,692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66800" y="2590800"/>
            <a:ext cx="296497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 in Spring, the strongest category and season combination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2614" y="1620521"/>
            <a:ext cx="3386693" cy="1967230"/>
          </a:xfrm>
          <a:prstGeom prst="roundRect">
            <a:avLst>
              <a:gd name="adj" fmla="val 5165"/>
            </a:avLst>
          </a:prstGeom>
          <a:solidFill>
            <a:srgbClr val="2A36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56614" y="1874521"/>
            <a:ext cx="296505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$4,278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656614" y="2590800"/>
            <a:ext cx="2965054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Outerwear in Summer, the weakest. Outerwear peaks in Fall ($5,259), not Winter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2507" y="1620521"/>
            <a:ext cx="3386693" cy="1967230"/>
          </a:xfrm>
          <a:prstGeom prst="roundRect">
            <a:avLst>
              <a:gd name="adj" fmla="val 5165"/>
            </a:avLst>
          </a:prstGeom>
          <a:solidFill>
            <a:srgbClr val="2A36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46507" y="1874521"/>
            <a:ext cx="296505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$9,555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246507" y="2590800"/>
            <a:ext cx="2965054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Footwear peaks in Spring, stays high in Summer ($9,393) and dips in Winter ($8,480)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89255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has the most purchases (999), yet Fall earns the most because spend per purchase is higher.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Customers: mostly male, evenly spread, subscribers spend the same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2123439"/>
            <a:ext cx="5181600" cy="1719580"/>
          </a:xfrm>
          <a:prstGeom prst="roundRect">
            <a:avLst>
              <a:gd name="adj" fmla="val 5908"/>
            </a:avLst>
          </a:prstGeom>
          <a:solidFill>
            <a:srgbClr val="2A36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6800" y="2377439"/>
            <a:ext cx="481380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68% male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66800" y="3093721"/>
            <a:ext cx="481380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at 67% to 69% in every age group. Women spend slightly more per purchase ($60.25 vs $59.54).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7600" y="2123439"/>
            <a:ext cx="5181600" cy="1719580"/>
          </a:xfrm>
          <a:prstGeom prst="roundRect">
            <a:avLst>
              <a:gd name="adj" fmla="val 5908"/>
            </a:avLst>
          </a:prstGeom>
          <a:solidFill>
            <a:srgbClr val="2A36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51600" y="2377439"/>
            <a:ext cx="481380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27% subscribe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51600" y="3093721"/>
            <a:ext cx="481380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purchase $59.49 vs $59.87 for non-subscribers. No spending premium.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4147821"/>
            <a:ext cx="11379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Middle-aged looks largest only because its age band is 20 years wide; per year of age every group holds 72 to 76 customers.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Discounts, shipping and payment do not move spend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2123439"/>
            <a:ext cx="3386614" cy="1967230"/>
          </a:xfrm>
          <a:prstGeom prst="roundRect">
            <a:avLst>
              <a:gd name="adj" fmla="val 51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6800" y="2377439"/>
            <a:ext cx="296497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B4521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$59.28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66800" y="3093721"/>
            <a:ext cx="296497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purchase with a discount, against $60.13 without. Ratings 3.74 vs 3.76.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2614" y="2123439"/>
            <a:ext cx="3386693" cy="1967230"/>
          </a:xfrm>
          <a:prstGeom prst="roundRect">
            <a:avLst>
              <a:gd name="adj" fmla="val 51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56614" y="2377439"/>
            <a:ext cx="296505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B4521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656614" y="3093721"/>
            <a:ext cx="2965054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subscriber purchases are discounted, against 21.9% for non-subscribers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2507" y="2123439"/>
            <a:ext cx="3386693" cy="1967230"/>
          </a:xfrm>
          <a:prstGeom prst="roundRect">
            <a:avLst>
              <a:gd name="adj" fmla="val 51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46507" y="2377439"/>
            <a:ext cx="296505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B4521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$58 to $61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246507" y="3093721"/>
            <a:ext cx="2965054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spend across all six shipping types and six payment methods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Limitations: what this data can and cannot say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5181600" cy="19507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6800" y="1874521"/>
            <a:ext cx="48138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45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50620" y="2250442"/>
            <a:ext cx="472236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date field, so no growth or time trends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purchase per customer, so no lifetime value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missing ratings (0.9%) filled with category medians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7600" y="1620521"/>
            <a:ext cx="5181600" cy="19507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51600" y="1874521"/>
            <a:ext cx="48138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45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5420" y="2250442"/>
            <a:ext cx="472236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Correlation, not causation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Discounts and subscription overlap completely for subscribers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variation, so validate on real transaction data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to do, and what comes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5181600" cy="2484120"/>
          </a:xfrm>
          <a:prstGeom prst="roundRect">
            <a:avLst>
              <a:gd name="adj" fmla="val 4090"/>
            </a:avLst>
          </a:prstGeom>
          <a:solidFill>
            <a:srgbClr val="2A36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6800" y="1874521"/>
            <a:ext cx="48138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50620" y="2250442"/>
            <a:ext cx="4722368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targeted promotions against a control group instead of blanket discounts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Rethink subscriber benefits around retention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Clothing and Accessories year-round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campaigns around Summer and Spring footwear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7600" y="1620521"/>
            <a:ext cx="5181600" cy="2484120"/>
          </a:xfrm>
          <a:prstGeom prst="roundRect">
            <a:avLst>
              <a:gd name="adj" fmla="val 4090"/>
            </a:avLst>
          </a:prstGeom>
          <a:solidFill>
            <a:srgbClr val="2A36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51600" y="1874521"/>
            <a:ext cx="48138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5420" y="2250442"/>
            <a:ext cx="472236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 for subscription and spend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State-level geographic view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and color analysis</a:t>
            </a:r>
            <a:endParaRPr lang="en-US" sz="1500" dirty="0"/>
          </a:p>
          <a:p>
            <a:pPr marL="170180" indent="-17018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Dated transaction history for lifetime value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4409442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er Behavior Analysis">
  <a:themeElements>
    <a:clrScheme name="Customer Behavior Analysis">
      <a:dk1>
        <a:srgbClr val="1B2430"/>
      </a:dk1>
      <a:lt1>
        <a:srgbClr val="F6F3EC"/>
      </a:lt1>
      <a:dk2>
        <a:srgbClr val="313943"/>
      </a:dk2>
      <a:lt2>
        <a:srgbClr val="BFBFBD"/>
      </a:lt2>
      <a:accent1>
        <a:srgbClr val="E07A3F"/>
      </a:accent1>
      <a:accent2>
        <a:srgbClr val="B4521B"/>
      </a:accent2>
      <a:accent3>
        <a:srgbClr val="C9C4B8"/>
      </a:accent3>
      <a:accent4>
        <a:srgbClr val="9AA0A6"/>
      </a:accent4>
      <a:accent5>
        <a:srgbClr val="9EA0A1"/>
      </a:accent5>
      <a:accent6>
        <a:srgbClr val="7E8185"/>
      </a:accent6>
      <a:hlink>
        <a:srgbClr val="0563C1"/>
      </a:hlink>
      <a:folHlink>
        <a:srgbClr val="954F72"/>
      </a:folHlink>
    </a:clrScheme>
    <a:fontScheme name="Customer Behavior Analysi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Office PowerPoint</Application>
  <PresentationFormat>Widescreen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Georgia</vt:lpstr>
      <vt:lpstr>Customer Behavior Analysis</vt:lpstr>
      <vt:lpstr>Customer Behavior Analysis</vt:lpstr>
      <vt:lpstr>One question, three stages</vt:lpstr>
      <vt:lpstr>3,900 purchases, one per customer</vt:lpstr>
      <vt:lpstr>Ten SQL questions, four standout answers</vt:lpstr>
      <vt:lpstr>Product mix is the clearest signal</vt:lpstr>
      <vt:lpstr>Seasonal rhythm by category</vt:lpstr>
      <vt:lpstr>Customers: mostly male, evenly spread, subscribers spend the same</vt:lpstr>
      <vt:lpstr>Discounts, shipping and payment do not move spend</vt:lpstr>
      <vt:lpstr>Limitations: what this data can and cannot say</vt:lpstr>
      <vt:lpstr>What to do, and what comes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Behavior Analysis</dc:title>
  <dc:subject/>
  <dc:creator/>
  <cp:lastModifiedBy>عبدالرحمن مصطفى كمال على شاهين</cp:lastModifiedBy>
  <cp:revision>2</cp:revision>
  <dcterms:created xsi:type="dcterms:W3CDTF">2026-10-16T17:02:24Z</dcterms:created>
  <dcterms:modified xsi:type="dcterms:W3CDTF">2026-10-16T17:03:23Z</dcterms:modified>
</cp:coreProperties>
</file>